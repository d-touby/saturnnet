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Pendapatan (Juta Rp)</c:v>
                </c:pt>
              </c:strCache>
            </c:strRef>
          </c:tx>
          <c:spPr>
            <a:solidFill>
              <a:srgbClr val="1A54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4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2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3A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AB6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Saturn-Home
300 user</c:v>
                  </c:pt>
                  <c:pt idx="1">
                    <c:v>Saturn-Pro
150 user</c:v>
                  </c:pt>
                  <c:pt idx="2">
                    <c:v>Saturn-Elite
50 user</c:v>
                  </c:pt>
                  <c:pt idx="3">
                    <c:v>Add-On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67.5</c:v>
                </c:pt>
                <c:pt idx="2">
                  <c:v>125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Pendapatan (Miliar)</c:v>
                </c:pt>
              </c:strCache>
            </c:strRef>
          </c:tx>
          <c:spPr>
            <a:solidFill>
              <a:srgbClr val="1A54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Tahun 1</c:v>
                  </c:pt>
                  <c:pt idx="1">
                    <c:v>Tahun 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3.378</c:v>
                </c:pt>
                <c:pt idx="1">
                  <c:v>6.756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Laba Bersih (Miliar)</c:v>
                </c:pt>
              </c:strCache>
            </c:strRef>
          </c:tx>
          <c:spPr>
            <a:solidFill>
              <a:srgbClr val="1AAB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Tahun 1</c:v>
                  </c:pt>
                  <c:pt idx="1">
                    <c:v>Tahun 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1.07</c:v>
                </c:pt>
                <c:pt idx="1">
                  <c:v>3.374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1828800"/>
            <a:ext cx="5943600" cy="5943600"/>
          </a:xfrm>
          <a:prstGeom prst="ellipse">
            <a:avLst/>
          </a:prstGeom>
          <a:solidFill>
            <a:srgbClr val="152060">
              <a:alpha val="50000"/>
            </a:srgbClr>
          </a:solidFill>
          <a:ln w="12700">
            <a:solidFill>
              <a:srgbClr val="152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1E3080">
              <a:alpha val="60000"/>
            </a:srgbClr>
          </a:solidFill>
          <a:ln w="12700">
            <a:solidFill>
              <a:srgbClr val="1E3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52060">
              <a:alpha val="40000"/>
            </a:srgbClr>
          </a:solidFill>
          <a:ln w="12700">
            <a:solidFill>
              <a:srgbClr val="152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502920"/>
            <a:ext cx="1097280" cy="1097280"/>
          </a:xfrm>
          <a:prstGeom prst="ellipse">
            <a:avLst/>
          </a:prstGeom>
          <a:solidFill>
            <a:srgbClr val="2E82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73736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SaturnNet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"Orbiting Your Connection to the Universe"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8046720" cy="2743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BISNIS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 Provider (ISP)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2286000" y="3291840"/>
            <a:ext cx="4572000" cy="27432"/>
          </a:xfrm>
          <a:prstGeom prst="rect">
            <a:avLst/>
          </a:prstGeom>
          <a:solidFill>
            <a:srgbClr val="B0BED0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D0"/>
                </a:solidFill>
              </a:rPr>
              <a:t>Disusun oleh: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 Manajemen SaturnNet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Rigardy Touby  •  M. Wildan Efendi  •  Jeffa Gideon  •  Dimas Putra Pratama  •  Khoirul Anam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Akademik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59436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pasar digital Indonesia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59436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144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0241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&amp; Tujuan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4447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 dan solusi yang ditawarkan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40280"/>
            <a:ext cx="59436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24028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23500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Perusahaan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7706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Identitas, visi, misi, dan tim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40280"/>
            <a:ext cx="59436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4028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23500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Pasar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7706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 dan kompetitor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566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66160"/>
            <a:ext cx="59436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36758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&amp; Layanan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40965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internet dan teknologi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66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66160"/>
            <a:ext cx="59436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86400" y="36758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 &amp; Investasi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40965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OPEX, dan proyeksi keuntungan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Transformasi Digital 2026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Konektivitas internet kini setara dengan listrik &amp; air bersih — kebutuhan vital masyarakat modern.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 yang Ada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Kesenjangan kualitas layanan di wilayah sub-urban &amp; kawasan komersial baru.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Banyak wilayah potensial belum terlayani ISP besar secara optimal.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Menghambat produktivitas masyarakat dan pertumbuhan UMKM lokal.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SaturnNet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terkini • Layanan personal &amp; responsif • Harga terjangkau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0" y="960120"/>
            <a:ext cx="3383280" cy="1143000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097280"/>
            <a:ext cx="33832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Pesat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158877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755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Penetrasi Internet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286000"/>
            <a:ext cx="3383280" cy="11430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2423160"/>
            <a:ext cx="33832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Tinggi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0" y="291465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 kebutuhan rumahan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Trend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611880"/>
            <a:ext cx="3383280" cy="114300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3749040"/>
            <a:ext cx="33832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Masif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424053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koneksi andal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Digital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14400"/>
            <a:ext cx="64008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14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969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Kesenjangan Layanan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3167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ISP yang ada belum mampu memenuhi kebutuhan internet di wilayah sub-urban dan kawasan komersial berkembang?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1901952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901952"/>
            <a:ext cx="640080" cy="86868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9019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1956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vs Harga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3042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cara menghadirkan layanan internet berkualitas tinggi dengan harga yang terjangkau dan transparan?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" y="2889504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89504"/>
            <a:ext cx="64008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88950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2944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Responsivitas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291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meminimalkan waktu penanganan gangguan dan meningkatkan kepuasan pelanggan?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3877056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877056"/>
            <a:ext cx="640080" cy="86868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87705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" y="3931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Digitalisasi UMKM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2793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mendukung pertumbuhan UMKM dan institusi lokal melalui konektivitas yang andal?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Proposal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14400"/>
            <a:ext cx="420624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42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Menyajikan Model Bisnis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" y="140817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Memaparkan rancangan bisnis ISP yang layak secara finansial dan operasional di wilayah sub-urban.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176272"/>
            <a:ext cx="420624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3042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Menarik Investor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" y="26700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gambaran peluang investasi dengan ROI yang menarik dan risiko terukur.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4381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438144"/>
            <a:ext cx="420624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5661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Solusi Nyata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" y="393192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Menawarkan layanan internet fiber optic berkualitas tinggi sebagai jawaban atas kesenjangan digital.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9144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914400"/>
            <a:ext cx="420624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0424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Mendorong Pertumbuhan Lokal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0328" y="140817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Berkontribusi pada digitalisasi UMKM, pendidikan, dan komunitas di wilayah yang dilayani.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1762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176272"/>
            <a:ext cx="420624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3042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Membuktikan Kelayakan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10328" y="26700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proyeksi Break Even Point, Payback Period, dan ROI yang realistis.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Proposal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14400"/>
            <a:ext cx="201168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Masyarakat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199339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Akses internet cepat &amp; terjangkau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Dukung WFH &amp; pendidikan daring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Tingkatkan kualitas hidup digital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14400"/>
            <a:ext cx="201168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🏪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2316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&amp; Bisnis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199339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Koneksi andal untuk operasional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Dukung e-commerce &amp; digital marketing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Harga kompetitif tanpa bundling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91440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914400"/>
            <a:ext cx="201168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199339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Akselerasi infrastruktur digital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Dukung program Smart City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Perkuat ekosistem ekonomi digital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91440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914400"/>
            <a:ext cx="201168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122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22008" y="1993392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35%+ di Tahun ke-2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 revenue yang stabil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Payback Period 18–24 bulan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2B6B">
              <a:alpha val="60000"/>
            </a:srgbClr>
          </a:solidFill>
          <a:ln w="12700">
            <a:solidFill>
              <a:srgbClr val="1A2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03580">
              <a:alpha val="60000"/>
            </a:srgbClr>
          </a:solidFill>
          <a:ln w="12700">
            <a:solidFill>
              <a:srgbClr val="203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Perusahaan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· Visi &amp; Misi · Struktur Tim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&amp; Visi Misi Perusahaan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68680"/>
            <a:ext cx="4114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Perusahaan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10512" y="135331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SaturnNet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3749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6537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10512" y="18653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Berbasis Fiber Optic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304288"/>
            <a:ext cx="3749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74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10512" y="2377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"Orbiting Your Connection..."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3749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95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Berdiri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10512" y="2889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3749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015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Wilayah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10512" y="34015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Sub-Urban &amp; Kawasan Komersial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3749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1363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Visual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10512" y="39136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Biru Tua &amp; Perak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0" y="868680"/>
            <a:ext cx="4343400" cy="1828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1261872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penyedia layanan internet terdepan yang menghubungkan setiap lapisan masyarakat dengan teknologi informasi global secara inklusif, merata, dan berkelanjutan.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2816352"/>
            <a:ext cx="4343400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816352"/>
            <a:ext cx="4343400" cy="365760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816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32461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Membangun infrastruktur fiber optic berkualitas tinggi &amp; berkapasitas besar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Layanan pelanggan responsif 24/7 yang solutif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Mendorong digitalisasi UMKM, pendidikan, dan komunitas lokal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Menjalin kemitraan strategis dengan pemerintah daerah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 &amp; Struktur Tim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4114800" cy="566928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Keandalan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15910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99,5%+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9385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385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231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biaya tersembunyi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14800" cy="566928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786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26151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871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Gangguan &lt; 4 jam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21868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1868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3255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Inovasi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35112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terbaru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858768"/>
            <a:ext cx="4114800" cy="566928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8587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&amp; Personal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41513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komunitas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Tim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17720" y="1298448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298448"/>
            <a:ext cx="91440" cy="62179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335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16093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Rigardy Touby  —  Keputusan strategis &amp; hubungan investor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1993392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1993392"/>
            <a:ext cx="91440" cy="62179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Manajer Pemasaran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304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Dimas Putra Pratama  —  Akuisisi pelanggan &amp; branding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2688336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688336"/>
            <a:ext cx="91440" cy="62179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724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Wildan Efendi  —  Instalasi &amp; maintenance jaringan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17720" y="3383280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3383280"/>
            <a:ext cx="91440" cy="62179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419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Manajer Keuangan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3694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Khoirul Anam  —  Anggaran &amp; analisis investasi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0" y="4078224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4078224"/>
            <a:ext cx="91440" cy="62179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&amp; Admin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73168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Jeffa Gideon  —  Pelayanan &amp; tiket keluhan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2B6B">
              <a:alpha val="60000"/>
            </a:srgbClr>
          </a:solidFill>
          <a:ln w="12700">
            <a:solidFill>
              <a:srgbClr val="1A2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03580">
              <a:alpha val="60000"/>
            </a:srgbClr>
          </a:solidFill>
          <a:ln w="12700">
            <a:solidFill>
              <a:srgbClr val="203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Pasar &amp; Kompetitor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 · Tren · Keunggulan Bersaing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Pasar &amp; Tren Pendukung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Pasar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298448"/>
            <a:ext cx="822960" cy="1051560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98448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13898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Residensial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77393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Keluarga &amp; individu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(WFH, pendidikan, hiburan)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48716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487168"/>
            <a:ext cx="822960" cy="105156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87168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578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&amp; SME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9626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Kafe, ruko, kantor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(koneksi andal &amp; cepat)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675888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675888"/>
            <a:ext cx="822960" cy="1051560"/>
          </a:xfrm>
          <a:prstGeom prst="rect">
            <a:avLst/>
          </a:prstGeom>
          <a:solidFill>
            <a:srgbClr val="1A9066"/>
          </a:solidFill>
          <a:ln w="12700">
            <a:solidFill>
              <a:srgbClr val="1A90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675888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767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1513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line + SLA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ketat untuk enterprise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Pasar yang Mendukung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298448"/>
            <a:ext cx="4297680" cy="621792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29844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66360" y="1335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4K/8K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konten HD melonjak, butuh bandwidth besar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1993392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9933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6636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Anywhere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rumahan stabil menjadi kebutuhan primer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2688336"/>
            <a:ext cx="4297680" cy="621792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8833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6636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Penetrasi IoT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&amp; CCTV IP meluas di segmen residensial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3383280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38328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66360" y="3419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Lokal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butuh konektivitas andal untuk berjualan online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4078224"/>
            <a:ext cx="4297680" cy="621792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07822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6636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Pemerintah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Percepatan infrastruktur digital nasional didorong aktif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Kompetitor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182880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68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868680"/>
            <a:ext cx="155448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IndiHome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868680"/>
            <a:ext cx="155448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868680"/>
            <a:ext cx="155448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Lokal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868680"/>
            <a:ext cx="2377440" cy="50292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868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SaturnNet 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1371600"/>
            <a:ext cx="18288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3716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1371600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1371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/ ADSL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66160" y="1371600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371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1371600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371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Beragam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75120" y="1371600"/>
            <a:ext cx="2377440" cy="475488"/>
          </a:xfrm>
          <a:prstGeom prst="rect">
            <a:avLst/>
          </a:prstGeom>
          <a:solidFill>
            <a:srgbClr val="E8F2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3716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Murni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190195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19019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Entry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190195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19019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Mbps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66160" y="190195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19019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Mbps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20640" y="190195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19019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Mbps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75120" y="1901952"/>
            <a:ext cx="2377440" cy="475488"/>
          </a:xfrm>
          <a:prstGeom prst="rect">
            <a:avLst/>
          </a:prstGeom>
          <a:solidFill>
            <a:srgbClr val="E8F2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19019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Mbps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" y="2432304"/>
            <a:ext cx="18288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4323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Entry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011680" y="2432304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24323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270.000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566160" y="2432304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24323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225.000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20640" y="2432304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24323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150–200rb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75120" y="2432304"/>
            <a:ext cx="2377440" cy="475488"/>
          </a:xfrm>
          <a:prstGeom prst="rect">
            <a:avLst/>
          </a:prstGeom>
          <a:solidFill>
            <a:srgbClr val="E8F2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24323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280.000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2880" y="296265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29626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Instalasi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11680" y="296265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57400" y="29626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hari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566160" y="296265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11880" y="29626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hari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120640" y="296265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29626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Bervariasi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675120" y="2962656"/>
            <a:ext cx="2377440" cy="475488"/>
          </a:xfrm>
          <a:prstGeom prst="rect">
            <a:avLst/>
          </a:prstGeom>
          <a:solidFill>
            <a:srgbClr val="E8F2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0840" y="29626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hari ⚡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82880" y="3493008"/>
            <a:ext cx="18288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34930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CS/Support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011680" y="3493008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57400" y="3493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566160" y="3493008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11880" y="3493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Tel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120640" y="3493008"/>
            <a:ext cx="155448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3493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675120" y="3493008"/>
            <a:ext cx="2377440" cy="475488"/>
          </a:xfrm>
          <a:prstGeom prst="rect">
            <a:avLst/>
          </a:prstGeom>
          <a:solidFill>
            <a:srgbClr val="E8F2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0840" y="3493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24/7 🌟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82880" y="4023360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" y="4023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Jangkauan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011680" y="40233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57400" y="40233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Nasional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566160" y="40233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11880" y="40233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 besar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120640" y="40233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66360" y="40233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terbatas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675120" y="4023360"/>
            <a:ext cx="2377440" cy="475488"/>
          </a:xfrm>
          <a:prstGeom prst="rect">
            <a:avLst/>
          </a:prstGeom>
          <a:solidFill>
            <a:srgbClr val="E8F2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20840" y="40233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Sub-urban fokus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solidFill>
            <a:srgbClr val="E8F2FF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Keunggulan SaturnNet: Instalasi &lt; 3 hari  •  Teknisi lokal respons &lt; 4 jam  •  Transparansi harga penuh  •  Tidak ada bundling paksa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2B6B">
              <a:alpha val="60000"/>
            </a:srgbClr>
          </a:solidFill>
          <a:ln w="12700">
            <a:solidFill>
              <a:srgbClr val="1A2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03580">
              <a:alpha val="60000"/>
            </a:srgbClr>
          </a:solidFill>
          <a:ln w="12700">
            <a:solidFill>
              <a:srgbClr val="203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Produk &amp; Paket Layanan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Saturn-Home · Saturn-Pro · Saturn-Elite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Saturn-Home &amp; Saturn-Pro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4297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4297680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Saturn-Home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411480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1481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Mbps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180.000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Browsing, sosmed, streaming SD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4114800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968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596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Mbps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5968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280.000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2944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HD, video call, WFH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1480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12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12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75 Mbps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712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380.000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40599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streaming, multi-device, smart home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297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868680"/>
            <a:ext cx="4297680" cy="475488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68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Saturn-Pro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426464"/>
            <a:ext cx="411480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481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Starter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Mbps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0" y="14813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330.000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64608" y="1828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stabil gaming mobile &amp; PC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542032"/>
            <a:ext cx="4114800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5968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Pro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2596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Mbps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25968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490.000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64608" y="29443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traffic gaming + UMKM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657600"/>
            <a:ext cx="4114800" cy="1005840"/>
          </a:xfrm>
          <a:prstGeom prst="rect">
            <a:avLst/>
          </a:prstGeom>
          <a:solidFill>
            <a:srgbClr val="F8FA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7124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Ultra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46520" y="37124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Mbps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63840" y="37124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750.000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64608" y="40599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latency, streaming + gaming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Saturn-Elite &amp; Teknologi yang Digunakan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5029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5029200" cy="475488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Saturn-Elite  (Dedicated / Korporasi)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4846320" cy="77724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90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100M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19072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Mbps 1:1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1.500.000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18379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99%,  IP publik statis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484632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200M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19072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Mbps 1:1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0896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2.500.000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" y="2724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99,5%, dukungan prioritas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209544"/>
            <a:ext cx="4846320" cy="77724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500M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19072" y="3264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Mbps 1:1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08960" y="3264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5.000.000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" y="3611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99,9%, full managed, laporan bulanan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4251960"/>
            <a:ext cx="5029200" cy="658368"/>
          </a:xfrm>
          <a:prstGeom prst="rect">
            <a:avLst/>
          </a:prstGeom>
          <a:solidFill>
            <a:srgbClr val="EEF6FF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519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IP Publik Statis Rp 50.000/bln  •  Bandwidth Boost mulai Rp 30.000/sesi  •  Wi-Fi Mesh mulai Rp 500.000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94960" y="868680"/>
            <a:ext cx="3566160" cy="40416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138988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70448" y="1426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Inti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70448" y="1682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(GPON/EPON)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1956816"/>
            <a:ext cx="32004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04825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70448" y="20848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CPE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70448" y="23408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ONT/ONU kompatibel Wi-Fi modern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2615184"/>
            <a:ext cx="32004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270662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70448" y="2743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70448" y="2999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MikroTik RouterOS + QoS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273552"/>
            <a:ext cx="32004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36499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870448" y="34015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24/7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70448" y="3657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PRTG Network Monitor / Zabbix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3931920"/>
            <a:ext cx="3200400" cy="13716"/>
          </a:xfrm>
          <a:prstGeom prst="rect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402336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70448" y="40599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870448" y="43159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pelanggan terintegrasi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2B6B">
              <a:alpha val="60000"/>
            </a:srgbClr>
          </a:solidFill>
          <a:ln w="12700">
            <a:solidFill>
              <a:srgbClr val="1A2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03580">
              <a:alpha val="60000"/>
            </a:srgbClr>
          </a:solidFill>
          <a:ln w="12700">
            <a:solidFill>
              <a:srgbClr val="203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Harga &amp; Analisis Keuangan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CAPEX · OPEX · Proyeksi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Harga &amp; Proyeksi Pendapatan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Harga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4114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984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335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GRATIS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16184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100 pelanggan pertama (nilai Rp 150.000/user)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965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002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Diskon 20%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1–3 untuk stimulasi akuisisi awal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633472"/>
            <a:ext cx="4114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334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Tahunan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2953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Diskon 15% bayar 12 bulan di muka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30098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0098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Khusus UMKM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3621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Saturn-Pro Rp 350.000 di semester pertama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968496"/>
            <a:ext cx="4114800" cy="594360"/>
          </a:xfrm>
          <a:prstGeom prst="rect">
            <a:avLst/>
          </a:prstGeom>
          <a:solidFill>
            <a:srgbClr val="F0F5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6849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Garansi 7 Hari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4288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penuh jika layanan tidak memenuhi SLA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868680"/>
            <a:ext cx="4297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868680"/>
            <a:ext cx="42976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Pendapatan Bulanan</a:t>
            </a:r>
            <a:endParaRPr lang="en-US" sz="12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663440" y="128016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4663440" y="3749040"/>
            <a:ext cx="4206240" cy="32004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Pendapatan/bln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85800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281.500.000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63440" y="4096512"/>
            <a:ext cx="4206240" cy="32004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OPEX/bln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858000" y="4096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139.650.000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63440" y="4443984"/>
            <a:ext cx="4206240" cy="320040"/>
          </a:xfrm>
          <a:prstGeom prst="rect">
            <a:avLst/>
          </a:prstGeom>
          <a:solidFill>
            <a:srgbClr val="E8FFF5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4443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Bersih/bln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0" y="4443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89.207.000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Pemasaran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68680"/>
            <a:ext cx="2743200" cy="457200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417320"/>
            <a:ext cx="25237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Instagram, Facebook, TikTok geo-targeting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SEO lokal &amp; Google My Business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Konten edukasi (video &amp; infografis)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Iklan berbasis ulasan Google Maps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4572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Pemasaran Langsung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417320"/>
            <a:ext cx="25237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Door-to-door: kluster perumahan &amp; UMKM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 Referral Rp 50.000/pelanggan baru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Pameran &amp; event lokal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Kemitraan eksklusif dengan developer perumahan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868680"/>
            <a:ext cx="274320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868680"/>
            <a:ext cx="2743200" cy="457200"/>
          </a:xfrm>
          <a:prstGeom prst="rect">
            <a:avLst/>
          </a:prstGeom>
          <a:solidFill>
            <a:srgbClr val="1A6A4A"/>
          </a:solidFill>
          <a:ln w="12700">
            <a:solidFill>
              <a:srgbClr val="1A6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868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Komunitas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1417320"/>
            <a:ext cx="25237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Branding kendaraan operasional SaturnNet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Seragam teknisi beridentitas merek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Papan reklame di titik strategis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Komunitas pelanggan (WhatsApp &amp; Telegram)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4617720"/>
            <a:ext cx="8686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17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Bln 1–3  ➤  100 pelanggan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87752" y="4617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Bln 4–6  ➤  250 kumulatif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4617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Bln 7–12  ➤  500 kumulatif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0296" y="4617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2  ➤  1.000+ pelanggan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Awal — CAPEX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59436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896112"/>
            <a:ext cx="2560320" cy="384048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961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Investasi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896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Biaya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280160"/>
            <a:ext cx="59436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25603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280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Perizinan &amp; Lisensi ISP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150.000.000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1673352"/>
            <a:ext cx="5943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73352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16733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Jaringan Inti (OLT, Mikrotik, Server)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673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250.000.000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066544"/>
            <a:ext cx="59436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066544"/>
            <a:ext cx="25603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0665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 Fiber Optic &amp; Penarikan Jaringan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2066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500.000.000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2459736"/>
            <a:ext cx="5943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459736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24597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Splitter, Konektor &amp; Aksesori FO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63640" y="2459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50.000.000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28600" y="2852928"/>
            <a:ext cx="59436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852928"/>
            <a:ext cx="25603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8529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ONT/ONU (500 unit @ Rp 250.000)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6364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125.000.000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8600" y="3246120"/>
            <a:ext cx="5943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324612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3246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Kendaraan Operasional (1 unit)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80.000.000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8600" y="3639312"/>
            <a:ext cx="59436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3639312"/>
            <a:ext cx="25603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36393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Kantor, NOC &amp; Furnitur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63640" y="3639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50.000.000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28600" y="4032504"/>
            <a:ext cx="5943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4032504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40325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Billing &amp; IT (Software)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63640" y="4032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25.000.000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28600" y="4425696"/>
            <a:ext cx="59436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4425696"/>
            <a:ext cx="256032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" y="44256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Cadangan Operasional (3 bulan)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63640" y="4425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418.950.000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28600" y="4818888"/>
            <a:ext cx="594360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72200" y="4818888"/>
            <a:ext cx="2560320" cy="4572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" y="48188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CAPEX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63640" y="4818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1.648.950.000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Bulanan &amp; Proyeksi Keuangan 2 Tahun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Operasional Bulanan (OPEX)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41148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Upstream (10 Gbps)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2618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50.000.000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655064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55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Gaji Karyawan (6 orang)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16550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45.000.000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048256"/>
            <a:ext cx="41148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48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 Kantor &amp; Utilitas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20482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15.000.000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441448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41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 Jaringan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24414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8.000.000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41148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Transportasi &amp; Ops. Teknisi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63240" y="2834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5.000.000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227832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Lisensi Software &amp; Billing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3227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3.000.000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621024"/>
            <a:ext cx="4114800" cy="36576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21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Pemasaran &amp; Promosi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36210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7.000.000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014216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Kontingensi (5%)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63240" y="40142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6.650.000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4407408"/>
            <a:ext cx="411480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407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OPEX/BULAN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4074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139.650.000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17720" y="868680"/>
            <a:ext cx="4297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868680"/>
            <a:ext cx="42976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Keuangan 2 Tahun</a:t>
            </a:r>
            <a:endParaRPr lang="en-US" sz="12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4663440" y="1298448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4663440" y="3749040"/>
            <a:ext cx="2011680" cy="1051560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663440" y="3886200"/>
            <a:ext cx="2011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4663440" y="432739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663440" y="4453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Tahun 1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812280" y="3749040"/>
            <a:ext cx="2011680" cy="105156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812280" y="3886200"/>
            <a:ext cx="2011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1.000+</a:t>
            </a:r>
            <a:endParaRPr lang="en-US" sz="2800" dirty="0"/>
          </a:p>
        </p:txBody>
      </p:sp>
      <p:sp>
        <p:nvSpPr>
          <p:cNvPr id="45" name="Text 42"/>
          <p:cNvSpPr/>
          <p:nvPr/>
        </p:nvSpPr>
        <p:spPr>
          <a:xfrm>
            <a:off x="6812280" y="432739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812280" y="4453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Tahun 2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Kelayakan Investasi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09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14400"/>
            <a:ext cx="4114800" cy="73152"/>
          </a:xfrm>
          <a:prstGeom prst="rect">
            <a:avLst/>
          </a:prstGeom>
          <a:solidFill>
            <a:srgbClr val="1A54A8"/>
          </a:solidFill>
          <a:ln w="12700">
            <a:solidFill>
              <a:srgbClr val="1A5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 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Aktif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Tercapai di bulan ke-7 sesuai target akuisisi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90872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914400"/>
            <a:ext cx="4114800" cy="7315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097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2312" y="1417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782312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2312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Balik modal dalam 1,5 – 2 tahun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4114800" cy="73152"/>
          </a:xfrm>
          <a:prstGeom prst="rect">
            <a:avLst/>
          </a:prstGeom>
          <a:solidFill>
            <a:srgbClr val="1A9066"/>
          </a:solidFill>
          <a:ln w="12700">
            <a:solidFill>
              <a:srgbClr val="1A9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Tahun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429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9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32004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menarik untuk investasi teknologi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90872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2926080"/>
            <a:ext cx="41148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82312" y="3429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4782312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Laba Kotor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amortisasi CAPEX Tahun 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Customer Lifetime Value (CLTV): Rp 8.400.000  (rata-rata pelanggan aktif 2,5 tahun × Rp 280.000/bulan)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731520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548640" cy="548640"/>
          </a:xfrm>
          <a:prstGeom prst="ellipse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987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Pasar yang Nyata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besar belum optimal di wilayah sub-urban — celah pasar terbuka lebar bagi SaturnNet.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828800"/>
            <a:ext cx="548640" cy="548640"/>
          </a:xfrm>
          <a:prstGeom prst="ellipse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yang Kompetitif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21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sub-paket dari Rp 180.000–Rp 5.000.000 mencakup semua segmen: residensial, UMKM, hingga korporasi.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2560320"/>
            <a:ext cx="8686800" cy="731520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651760"/>
            <a:ext cx="548640" cy="548640"/>
          </a:xfrm>
          <a:prstGeom prst="ellipse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33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Bisnis yang Terukur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443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bulanan, CAPEX Rp 1,65 Miliar, dan laba bersih Rp 89 juta/bulan sejak bulan ke-7.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383280"/>
            <a:ext cx="8686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474720"/>
            <a:ext cx="548640" cy="548640"/>
          </a:xfrm>
          <a:prstGeom prst="ellipse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56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Operasional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673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&lt; 3 hari, respons gangguan &lt; 4 jam, teknisi lokal 24/7 — unggul vs kompetitor nasional.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" y="4206240"/>
            <a:ext cx="8686800" cy="731520"/>
          </a:xfrm>
          <a:prstGeom prst="rect">
            <a:avLst/>
          </a:prstGeom>
          <a:solidFill>
            <a:srgbClr val="EEF3FF"/>
          </a:solidFill>
          <a:ln w="12700">
            <a:solidFill>
              <a:srgbClr val="B0B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297680"/>
            <a:ext cx="548640" cy="548640"/>
          </a:xfrm>
          <a:prstGeom prst="ellipse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279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Kelayakan Investasi Tinggi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5902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 di bulan ke-7, Payback Period 18–24 bulan, ROI 35%+ di Tahun ke-2.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152060">
              <a:alpha val="50000"/>
            </a:srgbClr>
          </a:solidFill>
          <a:ln w="12700">
            <a:solidFill>
              <a:srgbClr val="152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A3080">
              <a:alpha val="60000"/>
            </a:srgbClr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2E82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"Orbiting Your Connection to the Universe"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3794760"/>
            <a:ext cx="3657600" cy="27432"/>
          </a:xfrm>
          <a:prstGeom prst="rect">
            <a:avLst/>
          </a:prstGeom>
          <a:solidFill>
            <a:srgbClr val="2E82D4"/>
          </a:solidFill>
          <a:ln w="12700">
            <a:solidFill>
              <a:srgbClr val="2E8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Manajemen SaturnNet  |  Tahun Akademik 2025/2026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Bisnis SaturnNet</dc:title>
  <dc:subject>PptxGenJS Presentation</dc:subject>
  <dc:creator>Tim Manajemen SaturnNet</dc:creator>
  <cp:lastModifiedBy>Tim Manajemen SaturnNet</cp:lastModifiedBy>
  <cp:revision>1</cp:revision>
  <dcterms:created xsi:type="dcterms:W3CDTF">2026-03-11T01:47:20Z</dcterms:created>
  <dcterms:modified xsi:type="dcterms:W3CDTF">2026-03-11T01:47:20Z</dcterms:modified>
</cp:coreProperties>
</file>